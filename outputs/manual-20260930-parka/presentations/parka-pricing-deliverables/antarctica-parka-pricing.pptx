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1d88c77948849a7" /><Relationship Type="http://schemas.openxmlformats.org/officeDocument/2006/relationships/extended-properties" Target="/docProps/app.xml" Id="R534d69d4dd3a4b0c" /><Relationship Type="http://schemas.openxmlformats.org/officeDocument/2006/relationships/officeDocument" Target="/ppt/presentation.xml" Id="R1a845d423cba4db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e55fb6b96084bec"/>
  </p:sldMasterIdLst>
  <p:notesMasterIdLst>
    <p:notesMasterId xmlns:r="http://schemas.openxmlformats.org/officeDocument/2006/relationships" r:id="R3cfd678f66194484"/>
  </p:notesMasterIdLst>
  <p:sldIdLst>
    <p:sldId xmlns:r="http://schemas.openxmlformats.org/officeDocument/2006/relationships" id="256" r:id="Rc4b2bcb98bd34a85"/>
  </p:sldIdLst>
  <p:sldSz cx="15240000" cy="85725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55fb6b96084bec" /><Relationship Type="http://schemas.openxmlformats.org/officeDocument/2006/relationships/theme" Target="/ppt/theme/theme1.xml" Id="Re6dd2a483d974bb6" /><Relationship Type="http://schemas.openxmlformats.org/officeDocument/2006/relationships/notesMaster" Target="/ppt/notesMasters/notesMaster1.xml" Id="R3cfd678f66194484" /><Relationship Type="http://schemas.openxmlformats.org/officeDocument/2006/relationships/presProps" Target="/ppt/presProps.xml" Id="Rc98c57f754904ca4" /><Relationship Type="http://schemas.openxmlformats.org/officeDocument/2006/relationships/viewProps" Target="/ppt/viewProps.xml" Id="R6963e71a38ce4fd3" /><Relationship Type="http://schemas.openxmlformats.org/officeDocument/2006/relationships/tableStyles" Target="/ppt/tableStyles.xml" Id="Rb84726f04b0046bc" /><Relationship Type="http://schemas.openxmlformats.org/officeDocument/2006/relationships/slide" Target="/ppt/slides/slide1.xml" Id="Rc4b2bcb98bd34a8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eb0b1602344b43d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91515a30f0c4474" /><Relationship Type="http://schemas.openxmlformats.org/officeDocument/2006/relationships/notesMaster" Target="/ppt/notesMasters/notesMaster1.xml" Id="R875d5ad2fcbc49d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649609992f24b06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184e6674e61f48b9" /><Relationship Type="http://schemas.openxmlformats.org/officeDocument/2006/relationships/slideLayout" Target="/ppt/slideLayouts/slideLayout2.xml" Id="R2a0e0ce299ce448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a0e0ce299ce448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d19aa0684cc4c8f" /><Relationship Type="http://schemas.openxmlformats.org/officeDocument/2006/relationships/image" Target="/ppt/media/image.png" Id="R7396f9b952854ad7" /><Relationship Type="http://schemas.openxmlformats.org/officeDocument/2006/relationships/image" Target="/ppt/media/image.svg" Id="R3e9bbea868f14327" /><Relationship Type="http://schemas.openxmlformats.org/officeDocument/2006/relationships/image" Target="/ppt/media/image2.png" Id="R320cc41c90d146b7" /><Relationship Type="http://schemas.openxmlformats.org/officeDocument/2006/relationships/image" Target="/ppt/media/image2.svg" Id="R8a6d3b7d005f4ae7" /><Relationship Type="http://schemas.openxmlformats.org/officeDocument/2006/relationships/notesSlide" Target="/ppt/notesSlides/notesSlide1.xml" Id="Rd2bb6f5f82fb4a6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3EFD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webpage-bitcoin-wordmark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96f9b952854ad7"/>
          <a:stretch xmlns:a="http://schemas.openxmlformats.org/drawingml/2006/main"/>
        </p:blipFill>
        <p:spPr>
          <a:xfrm xmlns:a="http://schemas.openxmlformats.org/drawingml/2006/main">
            <a:off x="552450" y="288925"/>
            <a:ext cx="1571625" cy="460375"/>
          </a:xfrm>
          <a:prstGeom xmlns:a="http://schemas.openxmlformats.org/drawingml/2006/main" prst="rect">
            <a:avLst/>
          </a:prstGeom>
        </p:spPr>
      </p:pic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809B5A11-761A-4CB1-8AE2-E963E1752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52425"/>
            <a:ext cx="9525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AD86"/>
          </a:solidFill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9DA1F99D-AF4C-4950-AE6D-2CBE2D662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52425"/>
            <a:ext cx="5715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6686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56686A"/>
                </a:solidFill>
                <a:latin typeface="Courier New"/>
                <a:ea typeface="Courier New"/>
                <a:cs typeface="Courier New"/>
              </a:rPr>
              <a:t>EXPEDITIONS / ANTARCTICA</a:t>
            </a:r>
          </a:p>
        </p:txBody>
      </p:sp>
      <p:sp>
        <p:nvSpPr>
          <p:cNvPr id="4" name="draft-status">
            <a:extLst xmlns:a="http://schemas.openxmlformats.org/drawingml/2006/main">
              <a:ext uri="{FF2B5EF4-FFF2-40B4-BE49-F238E27FC236}">
                <a16:creationId xmlns:a16="http://schemas.microsoft.com/office/drawing/2014/main" id="{BBB802C8-7C38-4077-A2F1-1DDA3E433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61950"/>
            <a:ext cx="347662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6686A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56686A"/>
                </a:solidFill>
                <a:latin typeface="Courier New"/>
                <a:ea typeface="Courier New"/>
                <a:cs typeface="Courier New"/>
              </a:rPr>
              <a:t>PROPOSED SPONSORSHIP RATES</a:t>
            </a:r>
          </a:p>
        </p:txBody>
      </p:sp>
      <p:sp>
        <p:nvSpPr>
          <p:cNvPr id="5" name="claim-title">
            <a:extLst xmlns:a="http://schemas.openxmlformats.org/drawingml/2006/main">
              <a:ext uri="{FF2B5EF4-FFF2-40B4-BE49-F238E27FC236}">
                <a16:creationId xmlns:a16="http://schemas.microsoft.com/office/drawing/2014/main" id="{7724E0F1-B39A-42A1-B356-5704FBE4A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14400"/>
            <a:ext cx="139065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4125" b="0">
                <a:solidFill>
                  <a:srgbClr val="102E38"/>
                </a:solidFill>
                <a:latin typeface="Georgia"/>
                <a:ea typeface="Georgia"/>
                <a:cs typeface="Georgia"/>
              </a:defRPr>
            </a:pPr>
            <a:r>
              <a:rPr sz="4125" b="0">
                <a:solidFill>
                  <a:srgbClr val="102E38"/>
                </a:solidFill>
                <a:latin typeface="Georgia"/>
                <a:ea typeface="Georgia"/>
                <a:cs typeface="Georgia"/>
              </a:rPr>
              <a:t>Take your place on the expedition.</a:t>
            </a:r>
          </a:p>
        </p:txBody>
      </p:sp>
      <p:sp>
        <p:nvSpPr>
          <p:cNvPr id="6" name="subtitle">
            <a:extLst xmlns:a="http://schemas.openxmlformats.org/drawingml/2006/main">
              <a:ext uri="{FF2B5EF4-FFF2-40B4-BE49-F238E27FC236}">
                <a16:creationId xmlns:a16="http://schemas.microsoft.com/office/drawing/2014/main" id="{2415CC43-B3CB-45D2-B970-FDB6165E9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24025"/>
            <a:ext cx="13906500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6686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6686A"/>
                </a:solidFill>
                <a:latin typeface="Arial"/>
                <a:ea typeface="Arial"/>
                <a:cs typeface="Arial"/>
              </a:rPr>
              <a:t>One placement on every parka. Approximately 30 expedition parkas. All prices in USD.</a:t>
            </a:r>
          </a:p>
        </p:txBody>
      </p:sp>
      <p:sp>
        <p:nvSpPr>
          <p:cNvPr id="7" name="illustration-panel">
            <a:extLst xmlns:a="http://schemas.openxmlformats.org/drawingml/2006/main">
              <a:ext uri="{FF2B5EF4-FFF2-40B4-BE49-F238E27FC236}">
                <a16:creationId xmlns:a16="http://schemas.microsoft.com/office/drawing/2014/main" id="{31026D09-3C6E-4FAF-B608-090A0BF04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66950"/>
            <a:ext cx="7000875" cy="6305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E38"/>
          </a:solidFill>
        </p:spPr>
      </p:sp>
      <p:sp>
        <p:nvSpPr>
          <p:cNvPr id="8" name="diagram-title">
            <a:extLst xmlns:a="http://schemas.openxmlformats.org/drawingml/2006/main">
              <a:ext uri="{FF2B5EF4-FFF2-40B4-BE49-F238E27FC236}">
                <a16:creationId xmlns:a16="http://schemas.microsoft.com/office/drawing/2014/main" id="{4F522D93-822C-40DF-8579-768DC8284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62225"/>
            <a:ext cx="59055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2925" b="0">
                <a:solidFill>
                  <a:srgbClr val="F3EFDF"/>
                </a:solidFill>
                <a:latin typeface="Georgia"/>
                <a:ea typeface="Georgia"/>
                <a:cs typeface="Georgia"/>
              </a:defRPr>
            </a:pPr>
            <a:r>
              <a:rPr sz="2925" b="0">
                <a:solidFill>
                  <a:srgbClr val="F3EFDF"/>
                </a:solidFill>
                <a:latin typeface="Georgia"/>
                <a:ea typeface="Georgia"/>
                <a:cs typeface="Georgia"/>
              </a:rPr>
              <a:t>Wear the expedition.</a:t>
            </a:r>
          </a:p>
        </p:txBody>
      </p:sp>
      <p:sp>
        <p:nvSpPr>
          <p:cNvPr id="9" name="diagram-context">
            <a:extLst xmlns:a="http://schemas.openxmlformats.org/drawingml/2006/main">
              <a:ext uri="{FF2B5EF4-FFF2-40B4-BE49-F238E27FC236}">
                <a16:creationId xmlns:a16="http://schemas.microsoft.com/office/drawing/2014/main" id="{96E6F638-BF30-4BFA-8084-BFF83CE4C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09925"/>
            <a:ext cx="585787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D5B477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D5B477"/>
                </a:solidFill>
                <a:latin typeface="Courier New"/>
                <a:ea typeface="Courier New"/>
                <a:cs typeface="Courier New"/>
              </a:rPr>
              <a:t>10 SPONSOR PLACEMENTS / FRONT + BACK</a:t>
            </a:r>
          </a:p>
        </p:txBody>
      </p:sp>
      <p:pic>
        <p:nvPicPr>
          <p:cNvPr id="10" name="Front placement concept diagram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96f9b952854ad7">
            <a:extLst>
              <a:ext uri="{96DAC541-7B7A-43D3-8B79-37D633B846F1}">
                <asvg:svgBlip xmlns:asvg="http://schemas.microsoft.com/office/drawing/2016/SVG/main" r:embed="R3e9bbea868f1432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90500" y="3686175"/>
            <a:ext cx="3457575" cy="3790950"/>
          </a:xfrm>
          <a:prstGeom xmlns:a="http://schemas.openxmlformats.org/drawingml/2006/main" prst="rect">
            <a:avLst/>
          </a:prstGeom>
        </p:spPr>
      </p:pic>
      <p:pic>
        <p:nvPicPr>
          <p:cNvPr id="11" name="Back placement concept diagram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0cc41c90d146b7">
            <a:extLst>
              <a:ext uri="{96DAC541-7B7A-43D3-8B79-37D633B846F1}">
                <asvg:svgBlip xmlns:asvg="http://schemas.microsoft.com/office/drawing/2016/SVG/main" r:embed="R8a6d3b7d005f4ae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3495675" y="3686175"/>
            <a:ext cx="3314700" cy="3790950"/>
          </a:xfrm>
          <a:prstGeom xmlns:a="http://schemas.openxmlformats.org/drawingml/2006/main" prst="rect">
            <a:avLst/>
          </a:prstGeom>
        </p:spPr>
      </p:pic>
      <p:sp>
        <p:nvSpPr>
          <p:cNvPr id="12" name="front-label">
            <a:extLst xmlns:a="http://schemas.openxmlformats.org/drawingml/2006/main">
              <a:ext uri="{FF2B5EF4-FFF2-40B4-BE49-F238E27FC236}">
                <a16:creationId xmlns:a16="http://schemas.microsoft.com/office/drawing/2014/main" id="{10EFB106-83E6-45E3-B6BD-59EB14866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7562850"/>
            <a:ext cx="1809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900" b="0">
                <a:solidFill>
                  <a:srgbClr val="F3EFDF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F3EFDF"/>
                </a:solidFill>
                <a:latin typeface="Courier New"/>
                <a:ea typeface="Courier New"/>
                <a:cs typeface="Courier New"/>
              </a:rPr>
              <a:t>FRONT</a:t>
            </a:r>
          </a:p>
        </p:txBody>
      </p:sp>
      <p:sp>
        <p:nvSpPr>
          <p:cNvPr id="13" name="back-label">
            <a:extLst xmlns:a="http://schemas.openxmlformats.org/drawingml/2006/main">
              <a:ext uri="{FF2B5EF4-FFF2-40B4-BE49-F238E27FC236}">
                <a16:creationId xmlns:a16="http://schemas.microsoft.com/office/drawing/2014/main" id="{A987FCD9-337C-48E7-B7EB-6B9004C0A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7562850"/>
            <a:ext cx="1809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900" b="0">
                <a:solidFill>
                  <a:srgbClr val="F3EFDF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F3EFDF"/>
                </a:solidFill>
                <a:latin typeface="Courier New"/>
                <a:ea typeface="Courier New"/>
                <a:cs typeface="Courier New"/>
              </a:rPr>
              <a:t>BACK</a:t>
            </a:r>
          </a:p>
        </p:txBody>
      </p:sp>
      <p:sp>
        <p:nvSpPr>
          <p:cNvPr id="14" name="diagram-note">
            <a:extLst xmlns:a="http://schemas.openxmlformats.org/drawingml/2006/main">
              <a:ext uri="{FF2B5EF4-FFF2-40B4-BE49-F238E27FC236}">
                <a16:creationId xmlns:a16="http://schemas.microsoft.com/office/drawing/2014/main" id="{CB23D264-1DE5-4F3F-8239-4BDA27242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991475"/>
            <a:ext cx="5905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C6D4C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C6D4CE"/>
                </a:solidFill>
                <a:latin typeface="Arial"/>
                <a:ea typeface="Arial"/>
                <a:cs typeface="Arial"/>
              </a:rPr>
              <a:t>Placement concept only. Final garment and dimensions pending.</a:t>
            </a:r>
          </a:p>
        </p:txBody>
      </p:sp>
      <p:sp>
        <p:nvSpPr>
          <p:cNvPr id="15" name="table-placement">
            <a:extLst xmlns:a="http://schemas.openxmlformats.org/drawingml/2006/main">
              <a:ext uri="{FF2B5EF4-FFF2-40B4-BE49-F238E27FC236}">
                <a16:creationId xmlns:a16="http://schemas.microsoft.com/office/drawing/2014/main" id="{FE0AC8DB-4B48-4650-9758-365116513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457450"/>
            <a:ext cx="3000375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6686A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56686A"/>
                </a:solidFill>
                <a:latin typeface="Courier New"/>
                <a:ea typeface="Courier New"/>
                <a:cs typeface="Courier New"/>
              </a:rPr>
              <a:t>PLACEMENT</a:t>
            </a:r>
          </a:p>
        </p:txBody>
      </p:sp>
      <p:sp>
        <p:nvSpPr>
          <p:cNvPr id="16" name="table-slots">
            <a:extLst xmlns:a="http://schemas.openxmlformats.org/drawingml/2006/main">
              <a:ext uri="{FF2B5EF4-FFF2-40B4-BE49-F238E27FC236}">
                <a16:creationId xmlns:a16="http://schemas.microsoft.com/office/drawing/2014/main" id="{33178AA4-E478-4A71-8049-93A8397AE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457450"/>
            <a:ext cx="6858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900" b="0">
                <a:solidFill>
                  <a:srgbClr val="56686A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56686A"/>
                </a:solidFill>
                <a:latin typeface="Courier New"/>
                <a:ea typeface="Courier New"/>
                <a:cs typeface="Courier New"/>
              </a:rPr>
              <a:t>SLOTS</a:t>
            </a:r>
          </a:p>
        </p:txBody>
      </p:sp>
      <p:sp>
        <p:nvSpPr>
          <p:cNvPr id="17" name="table-price">
            <a:extLst xmlns:a="http://schemas.openxmlformats.org/drawingml/2006/main">
              <a:ext uri="{FF2B5EF4-FFF2-40B4-BE49-F238E27FC236}">
                <a16:creationId xmlns:a16="http://schemas.microsoft.com/office/drawing/2014/main" id="{19D1BCB1-CB3B-422A-80DE-2A9BC59C8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2457450"/>
            <a:ext cx="2371725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6686A"/>
                </a:solidFill>
                <a:latin typeface="Courier New"/>
                <a:ea typeface="Courier New"/>
                <a:cs typeface="Courier New"/>
              </a:defRPr>
            </a:pPr>
            <a:r>
              <a:rPr sz="900" b="0">
                <a:solidFill>
                  <a:srgbClr val="56686A"/>
                </a:solidFill>
                <a:latin typeface="Courier New"/>
                <a:ea typeface="Courier New"/>
                <a:cs typeface="Courier New"/>
              </a:rPr>
              <a:t>PRICE PER PLACEMENT</a:t>
            </a:r>
          </a:p>
        </p:txBody>
      </p:sp>
      <p:sp>
        <p:nvSpPr>
          <p:cNvPr id="19" name="row-rule-0">
            <a:extLst xmlns:a="http://schemas.openxmlformats.org/drawingml/2006/main">
              <a:ext uri="{FF2B5EF4-FFF2-40B4-BE49-F238E27FC236}">
                <a16:creationId xmlns:a16="http://schemas.microsoft.com/office/drawing/2014/main" id="{6CEA316E-96A7-492D-91D5-8535B7F82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828925"/>
            <a:ext cx="7181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AD86"/>
          </a:solidFill>
        </p:spPr>
      </p:sp>
      <p:sp>
        <p:nvSpPr>
          <p:cNvPr id="20" name="placement-number-0">
            <a:extLst xmlns:a="http://schemas.openxmlformats.org/drawingml/2006/main">
              <a:ext uri="{FF2B5EF4-FFF2-40B4-BE49-F238E27FC236}">
                <a16:creationId xmlns:a16="http://schemas.microsoft.com/office/drawing/2014/main" id="{F0CDCDA2-FD2C-4FDF-B88D-57F89C74C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175" y="2952750"/>
            <a:ext cx="2667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6686A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56686A"/>
                </a:solidFill>
                <a:latin typeface="Courier New"/>
                <a:ea typeface="Courier New"/>
                <a:cs typeface="Courier New"/>
              </a:rPr>
              <a:t>1</a:t>
            </a:r>
          </a:p>
        </p:txBody>
      </p:sp>
      <p:sp>
        <p:nvSpPr>
          <p:cNvPr id="21" name="placement-name-0">
            <a:extLst xmlns:a="http://schemas.openxmlformats.org/drawingml/2006/main">
              <a:ext uri="{FF2B5EF4-FFF2-40B4-BE49-F238E27FC236}">
                <a16:creationId xmlns:a16="http://schemas.microsoft.com/office/drawing/2014/main" id="{0997B4DC-4C15-4E4A-BFCE-014EC8607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7175" y="2924175"/>
            <a:ext cx="2667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02E3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2E38"/>
                </a:solidFill>
                <a:latin typeface="Arial"/>
                <a:ea typeface="Arial"/>
                <a:cs typeface="Arial"/>
              </a:rPr>
              <a:t>Upper arm</a:t>
            </a:r>
          </a:p>
        </p:txBody>
      </p:sp>
      <p:sp>
        <p:nvSpPr>
          <p:cNvPr id="22" name="placement-slots-0">
            <a:extLst xmlns:a="http://schemas.openxmlformats.org/drawingml/2006/main">
              <a:ext uri="{FF2B5EF4-FFF2-40B4-BE49-F238E27FC236}">
                <a16:creationId xmlns:a16="http://schemas.microsoft.com/office/drawing/2014/main" id="{0AD487C4-C074-4AF8-AAA7-1F3E7F516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2924175"/>
            <a:ext cx="6858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102E3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2E38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3" name="placement-price-0">
            <a:extLst xmlns:a="http://schemas.openxmlformats.org/drawingml/2006/main">
              <a:ext uri="{FF2B5EF4-FFF2-40B4-BE49-F238E27FC236}">
                <a16:creationId xmlns:a16="http://schemas.microsoft.com/office/drawing/2014/main" id="{B7B4BE8E-4B2B-4428-AAC8-A457EBBE4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0" y="2924175"/>
            <a:ext cx="1419225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1725" b="0">
                <a:solidFill>
                  <a:srgbClr val="102E38"/>
                </a:solidFill>
                <a:latin typeface="Georgia"/>
                <a:ea typeface="Georgia"/>
                <a:cs typeface="Georgia"/>
              </a:defRPr>
            </a:pPr>
            <a:r>
              <a:rPr sz="1725" b="0">
                <a:solidFill>
                  <a:srgbClr val="102E38"/>
                </a:solidFill>
                <a:latin typeface="Georgia"/>
                <a:ea typeface="Georgia"/>
                <a:cs typeface="Georgia"/>
              </a:rPr>
              <a:t>$4,000</a:t>
            </a:r>
          </a:p>
        </p:txBody>
      </p:sp>
      <p:sp>
        <p:nvSpPr>
          <p:cNvPr id="25" name="row-rule-1">
            <a:extLst xmlns:a="http://schemas.openxmlformats.org/drawingml/2006/main">
              <a:ext uri="{FF2B5EF4-FFF2-40B4-BE49-F238E27FC236}">
                <a16:creationId xmlns:a16="http://schemas.microsoft.com/office/drawing/2014/main" id="{E30CC1FC-473A-4698-A87D-4A041FE0E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381375"/>
            <a:ext cx="7181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AD86"/>
          </a:solidFill>
        </p:spPr>
      </p:sp>
      <p:sp>
        <p:nvSpPr>
          <p:cNvPr id="26" name="placement-number-1">
            <a:extLst xmlns:a="http://schemas.openxmlformats.org/drawingml/2006/main">
              <a:ext uri="{FF2B5EF4-FFF2-40B4-BE49-F238E27FC236}">
                <a16:creationId xmlns:a16="http://schemas.microsoft.com/office/drawing/2014/main" id="{8DB0BDAC-9E34-44E0-AE3E-4EFAEDE2B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175" y="3505200"/>
            <a:ext cx="2667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6686A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56686A"/>
                </a:solidFill>
                <a:latin typeface="Courier New"/>
                <a:ea typeface="Courier New"/>
                <a:cs typeface="Courier New"/>
              </a:rPr>
              <a:t>2</a:t>
            </a:r>
          </a:p>
        </p:txBody>
      </p:sp>
      <p:sp>
        <p:nvSpPr>
          <p:cNvPr id="27" name="placement-name-1">
            <a:extLst xmlns:a="http://schemas.openxmlformats.org/drawingml/2006/main">
              <a:ext uri="{FF2B5EF4-FFF2-40B4-BE49-F238E27FC236}">
                <a16:creationId xmlns:a16="http://schemas.microsoft.com/office/drawing/2014/main" id="{CEB00866-5939-4A2A-A557-310982609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7175" y="3476625"/>
            <a:ext cx="2667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02E3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2E38"/>
                </a:solidFill>
                <a:latin typeface="Arial"/>
                <a:ea typeface="Arial"/>
                <a:cs typeface="Arial"/>
              </a:rPr>
              <a:t>Middle arm</a:t>
            </a:r>
          </a:p>
        </p:txBody>
      </p:sp>
      <p:sp>
        <p:nvSpPr>
          <p:cNvPr id="28" name="placement-slots-1">
            <a:extLst xmlns:a="http://schemas.openxmlformats.org/drawingml/2006/main">
              <a:ext uri="{FF2B5EF4-FFF2-40B4-BE49-F238E27FC236}">
                <a16:creationId xmlns:a16="http://schemas.microsoft.com/office/drawing/2014/main" id="{8E89E10D-4E98-44BE-9CD2-69E8B2B77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476625"/>
            <a:ext cx="6858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102E3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2E38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9" name="placement-price-1">
            <a:extLst xmlns:a="http://schemas.openxmlformats.org/drawingml/2006/main">
              <a:ext uri="{FF2B5EF4-FFF2-40B4-BE49-F238E27FC236}">
                <a16:creationId xmlns:a16="http://schemas.microsoft.com/office/drawing/2014/main" id="{B942C841-4660-4259-AB12-AF83917DB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0" y="3476625"/>
            <a:ext cx="1419225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1725" b="0">
                <a:solidFill>
                  <a:srgbClr val="102E38"/>
                </a:solidFill>
                <a:latin typeface="Georgia"/>
                <a:ea typeface="Georgia"/>
                <a:cs typeface="Georgia"/>
              </a:defRPr>
            </a:pPr>
            <a:r>
              <a:rPr sz="1725" b="0">
                <a:solidFill>
                  <a:srgbClr val="102E38"/>
                </a:solidFill>
                <a:latin typeface="Georgia"/>
                <a:ea typeface="Georgia"/>
                <a:cs typeface="Georgia"/>
              </a:rPr>
              <a:t>$3,500</a:t>
            </a:r>
          </a:p>
        </p:txBody>
      </p:sp>
      <p:sp>
        <p:nvSpPr>
          <p:cNvPr id="31" name="row-rule-2">
            <a:extLst xmlns:a="http://schemas.openxmlformats.org/drawingml/2006/main">
              <a:ext uri="{FF2B5EF4-FFF2-40B4-BE49-F238E27FC236}">
                <a16:creationId xmlns:a16="http://schemas.microsoft.com/office/drawing/2014/main" id="{DBC87FF7-969C-4996-B222-265857C40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933825"/>
            <a:ext cx="7181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AD86"/>
          </a:solidFill>
        </p:spPr>
      </p:sp>
      <p:sp>
        <p:nvSpPr>
          <p:cNvPr id="32" name="placement-number-2">
            <a:extLst xmlns:a="http://schemas.openxmlformats.org/drawingml/2006/main">
              <a:ext uri="{FF2B5EF4-FFF2-40B4-BE49-F238E27FC236}">
                <a16:creationId xmlns:a16="http://schemas.microsoft.com/office/drawing/2014/main" id="{11E37F26-C640-40A5-A56F-EDBACEAAE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175" y="4057650"/>
            <a:ext cx="2667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6686A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56686A"/>
                </a:solidFill>
                <a:latin typeface="Courier New"/>
                <a:ea typeface="Courier New"/>
                <a:cs typeface="Courier New"/>
              </a:rPr>
              <a:t>3</a:t>
            </a:r>
          </a:p>
        </p:txBody>
      </p:sp>
      <p:sp>
        <p:nvSpPr>
          <p:cNvPr id="33" name="placement-name-2">
            <a:extLst xmlns:a="http://schemas.openxmlformats.org/drawingml/2006/main">
              <a:ext uri="{FF2B5EF4-FFF2-40B4-BE49-F238E27FC236}">
                <a16:creationId xmlns:a16="http://schemas.microsoft.com/office/drawing/2014/main" id="{FA72C90D-648C-4452-8FC7-D64602600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7175" y="4029075"/>
            <a:ext cx="2667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02E3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2E38"/>
                </a:solidFill>
                <a:latin typeface="Arial"/>
                <a:ea typeface="Arial"/>
                <a:cs typeface="Arial"/>
              </a:rPr>
              <a:t>Lower arm</a:t>
            </a:r>
          </a:p>
        </p:txBody>
      </p:sp>
      <p:sp>
        <p:nvSpPr>
          <p:cNvPr id="34" name="placement-slots-2">
            <a:extLst xmlns:a="http://schemas.openxmlformats.org/drawingml/2006/main">
              <a:ext uri="{FF2B5EF4-FFF2-40B4-BE49-F238E27FC236}">
                <a16:creationId xmlns:a16="http://schemas.microsoft.com/office/drawing/2014/main" id="{3FF2B899-50ED-4566-B3DB-D1F3797FD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029075"/>
            <a:ext cx="6858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102E3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2E38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35" name="placement-price-2">
            <a:extLst xmlns:a="http://schemas.openxmlformats.org/drawingml/2006/main">
              <a:ext uri="{FF2B5EF4-FFF2-40B4-BE49-F238E27FC236}">
                <a16:creationId xmlns:a16="http://schemas.microsoft.com/office/drawing/2014/main" id="{7159A623-F2C1-4E10-A16B-4D2718F24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0" y="4029075"/>
            <a:ext cx="1419225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1725" b="0">
                <a:solidFill>
                  <a:srgbClr val="102E38"/>
                </a:solidFill>
                <a:latin typeface="Georgia"/>
                <a:ea typeface="Georgia"/>
                <a:cs typeface="Georgia"/>
              </a:defRPr>
            </a:pPr>
            <a:r>
              <a:rPr sz="1725" b="0">
                <a:solidFill>
                  <a:srgbClr val="102E38"/>
                </a:solidFill>
                <a:latin typeface="Georgia"/>
                <a:ea typeface="Georgia"/>
                <a:cs typeface="Georgia"/>
              </a:rPr>
              <a:t>$3,000</a:t>
            </a:r>
          </a:p>
        </p:txBody>
      </p:sp>
      <p:sp>
        <p:nvSpPr>
          <p:cNvPr id="37" name="row-rule-3">
            <a:extLst xmlns:a="http://schemas.openxmlformats.org/drawingml/2006/main">
              <a:ext uri="{FF2B5EF4-FFF2-40B4-BE49-F238E27FC236}">
                <a16:creationId xmlns:a16="http://schemas.microsoft.com/office/drawing/2014/main" id="{FE927755-550B-41E8-BE68-B34C65B92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486275"/>
            <a:ext cx="7181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AD86"/>
          </a:solidFill>
        </p:spPr>
      </p:sp>
      <p:sp>
        <p:nvSpPr>
          <p:cNvPr id="38" name="placement-number-3">
            <a:extLst xmlns:a="http://schemas.openxmlformats.org/drawingml/2006/main">
              <a:ext uri="{FF2B5EF4-FFF2-40B4-BE49-F238E27FC236}">
                <a16:creationId xmlns:a16="http://schemas.microsoft.com/office/drawing/2014/main" id="{3238E5EB-FA09-4B8C-BCE3-4497DA39F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175" y="4610100"/>
            <a:ext cx="2667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6686A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56686A"/>
                </a:solidFill>
                <a:latin typeface="Courier New"/>
                <a:ea typeface="Courier New"/>
                <a:cs typeface="Courier New"/>
              </a:rPr>
              <a:t>4</a:t>
            </a:r>
          </a:p>
        </p:txBody>
      </p:sp>
      <p:sp>
        <p:nvSpPr>
          <p:cNvPr id="39" name="placement-name-3">
            <a:extLst xmlns:a="http://schemas.openxmlformats.org/drawingml/2006/main">
              <a:ext uri="{FF2B5EF4-FFF2-40B4-BE49-F238E27FC236}">
                <a16:creationId xmlns:a16="http://schemas.microsoft.com/office/drawing/2014/main" id="{37624AFC-AB39-4E42-BCA1-7448D02FA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7175" y="4581525"/>
            <a:ext cx="2667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02E3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2E38"/>
                </a:solidFill>
                <a:latin typeface="Arial"/>
                <a:ea typeface="Arial"/>
                <a:cs typeface="Arial"/>
              </a:rPr>
              <a:t>Left chest</a:t>
            </a:r>
          </a:p>
        </p:txBody>
      </p:sp>
      <p:sp>
        <p:nvSpPr>
          <p:cNvPr id="40" name="placement-slots-3">
            <a:extLst xmlns:a="http://schemas.openxmlformats.org/drawingml/2006/main">
              <a:ext uri="{FF2B5EF4-FFF2-40B4-BE49-F238E27FC236}">
                <a16:creationId xmlns:a16="http://schemas.microsoft.com/office/drawing/2014/main" id="{C3DF1D47-4B49-4F38-BD74-4F1D56E3D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581525"/>
            <a:ext cx="6858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102E3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2E3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1" name="placement-price-3">
            <a:extLst xmlns:a="http://schemas.openxmlformats.org/drawingml/2006/main">
              <a:ext uri="{FF2B5EF4-FFF2-40B4-BE49-F238E27FC236}">
                <a16:creationId xmlns:a16="http://schemas.microsoft.com/office/drawing/2014/main" id="{ABC306AF-26EE-4EA2-BB3D-C5C1B09C7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0" y="4581525"/>
            <a:ext cx="1419225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1725" b="0">
                <a:solidFill>
                  <a:srgbClr val="102E38"/>
                </a:solidFill>
                <a:latin typeface="Georgia"/>
                <a:ea typeface="Georgia"/>
                <a:cs typeface="Georgia"/>
              </a:defRPr>
            </a:pPr>
            <a:r>
              <a:rPr sz="1725" b="0">
                <a:solidFill>
                  <a:srgbClr val="102E38"/>
                </a:solidFill>
                <a:latin typeface="Georgia"/>
                <a:ea typeface="Georgia"/>
                <a:cs typeface="Georgia"/>
              </a:rPr>
              <a:t>$7,000</a:t>
            </a:r>
          </a:p>
        </p:txBody>
      </p:sp>
      <p:sp>
        <p:nvSpPr>
          <p:cNvPr id="43" name="row-rule-4">
            <a:extLst xmlns:a="http://schemas.openxmlformats.org/drawingml/2006/main">
              <a:ext uri="{FF2B5EF4-FFF2-40B4-BE49-F238E27FC236}">
                <a16:creationId xmlns:a16="http://schemas.microsoft.com/office/drawing/2014/main" id="{03F8C9ED-9BFA-4266-AE7A-F5691A702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5038725"/>
            <a:ext cx="7181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AD86"/>
          </a:solidFill>
        </p:spPr>
      </p:sp>
      <p:sp>
        <p:nvSpPr>
          <p:cNvPr id="44" name="placement-number-4">
            <a:extLst xmlns:a="http://schemas.openxmlformats.org/drawingml/2006/main">
              <a:ext uri="{FF2B5EF4-FFF2-40B4-BE49-F238E27FC236}">
                <a16:creationId xmlns:a16="http://schemas.microsoft.com/office/drawing/2014/main" id="{73C457EC-9489-4AC6-BD00-891DBAB1A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175" y="5162550"/>
            <a:ext cx="2667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6686A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56686A"/>
                </a:solidFill>
                <a:latin typeface="Courier New"/>
                <a:ea typeface="Courier New"/>
                <a:cs typeface="Courier New"/>
              </a:rPr>
              <a:t>5</a:t>
            </a:r>
          </a:p>
        </p:txBody>
      </p:sp>
      <p:sp>
        <p:nvSpPr>
          <p:cNvPr id="45" name="placement-name-4">
            <a:extLst xmlns:a="http://schemas.openxmlformats.org/drawingml/2006/main">
              <a:ext uri="{FF2B5EF4-FFF2-40B4-BE49-F238E27FC236}">
                <a16:creationId xmlns:a16="http://schemas.microsoft.com/office/drawing/2014/main" id="{16449C19-3B89-4CA3-8CCB-71E4C462D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7175" y="5133975"/>
            <a:ext cx="2667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02E3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2E38"/>
                </a:solidFill>
                <a:latin typeface="Arial"/>
                <a:ea typeface="Arial"/>
                <a:cs typeface="Arial"/>
              </a:rPr>
              <a:t>Right front</a:t>
            </a:r>
          </a:p>
        </p:txBody>
      </p:sp>
      <p:sp>
        <p:nvSpPr>
          <p:cNvPr id="46" name="placement-slots-4">
            <a:extLst xmlns:a="http://schemas.openxmlformats.org/drawingml/2006/main">
              <a:ext uri="{FF2B5EF4-FFF2-40B4-BE49-F238E27FC236}">
                <a16:creationId xmlns:a16="http://schemas.microsoft.com/office/drawing/2014/main" id="{E71A654E-B4F2-40B2-9B65-8293B21C0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5133975"/>
            <a:ext cx="6858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102E3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2E38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47" name="placement-price-4">
            <a:extLst xmlns:a="http://schemas.openxmlformats.org/drawingml/2006/main">
              <a:ext uri="{FF2B5EF4-FFF2-40B4-BE49-F238E27FC236}">
                <a16:creationId xmlns:a16="http://schemas.microsoft.com/office/drawing/2014/main" id="{8B202565-0E59-4C4B-9153-7B18EE3AD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0" y="5133975"/>
            <a:ext cx="1419225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1725" b="0">
                <a:solidFill>
                  <a:srgbClr val="102E38"/>
                </a:solidFill>
                <a:latin typeface="Georgia"/>
                <a:ea typeface="Georgia"/>
                <a:cs typeface="Georgia"/>
              </a:defRPr>
            </a:pPr>
            <a:r>
              <a:rPr sz="1725" b="0">
                <a:solidFill>
                  <a:srgbClr val="102E38"/>
                </a:solidFill>
                <a:latin typeface="Georgia"/>
                <a:ea typeface="Georgia"/>
                <a:cs typeface="Georgia"/>
              </a:rPr>
              <a:t>$5,000</a:t>
            </a:r>
          </a:p>
        </p:txBody>
      </p:sp>
      <p:sp>
        <p:nvSpPr>
          <p:cNvPr id="49" name="premium-back-highlight">
            <a:extLst xmlns:a="http://schemas.openxmlformats.org/drawingml/2006/main">
              <a:ext uri="{FF2B5EF4-FFF2-40B4-BE49-F238E27FC236}">
                <a16:creationId xmlns:a16="http://schemas.microsoft.com/office/drawing/2014/main" id="{4FE3ECFB-20B0-4E43-AF6F-CCC90F64C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5600700"/>
            <a:ext cx="7315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E38"/>
          </a:solidFill>
        </p:spPr>
      </p:sp>
      <p:sp>
        <p:nvSpPr>
          <p:cNvPr id="50" name="placement-number-5">
            <a:extLst xmlns:a="http://schemas.openxmlformats.org/drawingml/2006/main">
              <a:ext uri="{FF2B5EF4-FFF2-40B4-BE49-F238E27FC236}">
                <a16:creationId xmlns:a16="http://schemas.microsoft.com/office/drawing/2014/main" id="{52163099-08AF-4F74-BF30-29DF39700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175" y="5715000"/>
            <a:ext cx="2667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D5B477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>
                <a:solidFill>
                  <a:srgbClr val="D5B477"/>
                </a:solidFill>
                <a:latin typeface="Courier New"/>
                <a:ea typeface="Courier New"/>
                <a:cs typeface="Courier New"/>
              </a:rPr>
              <a:t>6</a:t>
            </a:r>
          </a:p>
        </p:txBody>
      </p:sp>
      <p:sp>
        <p:nvSpPr>
          <p:cNvPr id="51" name="placement-name-5">
            <a:extLst xmlns:a="http://schemas.openxmlformats.org/drawingml/2006/main">
              <a:ext uri="{FF2B5EF4-FFF2-40B4-BE49-F238E27FC236}">
                <a16:creationId xmlns:a16="http://schemas.microsoft.com/office/drawing/2014/main" id="{62D75C8E-0DAF-4352-99CE-C2D936573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7175" y="5686425"/>
            <a:ext cx="2667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3EFD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3EFDF"/>
                </a:solidFill>
                <a:latin typeface="Arial"/>
                <a:ea typeface="Arial"/>
                <a:cs typeface="Arial"/>
              </a:rPr>
              <a:t>Large back</a:t>
            </a:r>
          </a:p>
        </p:txBody>
      </p:sp>
      <p:sp>
        <p:nvSpPr>
          <p:cNvPr id="52" name="placement-slots-5">
            <a:extLst xmlns:a="http://schemas.openxmlformats.org/drawingml/2006/main">
              <a:ext uri="{FF2B5EF4-FFF2-40B4-BE49-F238E27FC236}">
                <a16:creationId xmlns:a16="http://schemas.microsoft.com/office/drawing/2014/main" id="{AD12FD7F-7C5E-4BB7-8E3E-FECAD564D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5686425"/>
            <a:ext cx="6858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F3EFD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3EFD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53" name="placement-price-5">
            <a:extLst xmlns:a="http://schemas.openxmlformats.org/drawingml/2006/main">
              <a:ext uri="{FF2B5EF4-FFF2-40B4-BE49-F238E27FC236}">
                <a16:creationId xmlns:a16="http://schemas.microsoft.com/office/drawing/2014/main" id="{98E0FC70-8B1E-46E1-B564-72CB28AE8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0" y="5686425"/>
            <a:ext cx="1419225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1725" b="0">
                <a:solidFill>
                  <a:srgbClr val="F3EFDF"/>
                </a:solidFill>
                <a:latin typeface="Georgia"/>
                <a:ea typeface="Georgia"/>
                <a:cs typeface="Georgia"/>
              </a:defRPr>
            </a:pPr>
            <a:r>
              <a:rPr sz="1725" b="0">
                <a:solidFill>
                  <a:srgbClr val="F3EFDF"/>
                </a:solidFill>
                <a:latin typeface="Georgia"/>
                <a:ea typeface="Georgia"/>
                <a:cs typeface="Georgia"/>
              </a:rPr>
              <a:t>$21,000</a:t>
            </a:r>
          </a:p>
        </p:txBody>
      </p:sp>
      <p:sp>
        <p:nvSpPr>
          <p:cNvPr id="59" name="terms">
            <a:extLst xmlns:a="http://schemas.openxmlformats.org/drawingml/2006/main">
              <a:ext uri="{FF2B5EF4-FFF2-40B4-BE49-F238E27FC236}">
                <a16:creationId xmlns:a16="http://schemas.microsoft.com/office/drawing/2014/main" id="{76968606-EB12-40C1-99BC-C774E53E1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6858000"/>
            <a:ext cx="718185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6686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6686A"/>
                </a:solidFill>
                <a:latin typeface="Arial"/>
                <a:ea typeface="Arial"/>
                <a:cs typeface="Arial"/>
              </a:rPr>
              <a:t>Each price covers all parkas. Expedition tickets are separate.</a:t>
            </a:r>
          </a:p>
        </p:txBody>
      </p:sp>
      <p:sp>
        <p:nvSpPr>
          <p:cNvPr id="60" name="terms-second">
            <a:extLst xmlns:a="http://schemas.openxmlformats.org/drawingml/2006/main">
              <a:ext uri="{FF2B5EF4-FFF2-40B4-BE49-F238E27FC236}">
                <a16:creationId xmlns:a16="http://schemas.microsoft.com/office/drawing/2014/main" id="{E6F16F5F-0AC2-4955-8473-869570175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7181850"/>
            <a:ext cx="718185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6686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6686A"/>
                </a:solidFill>
                <a:latin typeface="Arial"/>
                <a:ea typeface="Arial"/>
                <a:cs typeface="Arial"/>
              </a:rPr>
              <a:t>Photo and promotional benefits to be agreed with each sponsor.</a:t>
            </a:r>
          </a:p>
        </p:txBody>
      </p:sp>
    </p:spTree>
    <p:extLst>
      <p:ext uri="{BB962C8B-B14F-4D97-AF65-F5344CB8AC3E}">
        <p14:creationId xmlns:p14="http://schemas.microsoft.com/office/powerpoint/2010/main" val="35418711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2026-10-02T12:54:39.3270000Z</dcterms:created>
  <dcterms:modified xsi:type="dcterms:W3CDTF">2026-10-02T12:54:39.3270000Z</dcterms:modified>
</coreProperties>
</file>