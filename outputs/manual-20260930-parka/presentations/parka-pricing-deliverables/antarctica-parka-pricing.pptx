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844f5af9c54aff" /><Relationship Type="http://schemas.openxmlformats.org/officeDocument/2006/relationships/extended-properties" Target="/docProps/app.xml" Id="R8df0170960644ebb" /><Relationship Type="http://schemas.openxmlformats.org/officeDocument/2006/relationships/officeDocument" Target="/ppt/presentation.xml" Id="Rbffd41e576644f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1280ed2c7f4cbc"/>
  </p:sldMasterIdLst>
  <p:notesMasterIdLst>
    <p:notesMasterId xmlns:r="http://schemas.openxmlformats.org/officeDocument/2006/relationships" r:id="Re20a3ef4e5ef44a2"/>
  </p:notesMasterIdLst>
  <p:sldIdLst>
    <p:sldId xmlns:r="http://schemas.openxmlformats.org/officeDocument/2006/relationships" id="256" r:id="R1d9e7d6f57b84a56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280ed2c7f4cbc" /><Relationship Type="http://schemas.openxmlformats.org/officeDocument/2006/relationships/theme" Target="/ppt/theme/theme1.xml" Id="Rcb36a37701194381" /><Relationship Type="http://schemas.openxmlformats.org/officeDocument/2006/relationships/notesMaster" Target="/ppt/notesMasters/notesMaster1.xml" Id="Re20a3ef4e5ef44a2" /><Relationship Type="http://schemas.openxmlformats.org/officeDocument/2006/relationships/presProps" Target="/ppt/presProps.xml" Id="R7696d07d276b4877" /><Relationship Type="http://schemas.openxmlformats.org/officeDocument/2006/relationships/viewProps" Target="/ppt/viewProps.xml" Id="R8a550d0b82de44d3" /><Relationship Type="http://schemas.openxmlformats.org/officeDocument/2006/relationships/tableStyles" Target="/ppt/tableStyles.xml" Id="R65d66f5b31954127" /><Relationship Type="http://schemas.openxmlformats.org/officeDocument/2006/relationships/slide" Target="/ppt/slides/slide1.xml" Id="R1d9e7d6f57b84a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a4fbac1e73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7069870b9466e" /><Relationship Type="http://schemas.openxmlformats.org/officeDocument/2006/relationships/notesMaster" Target="/ppt/notesMasters/notesMaster1.xml" Id="Re2238cc3e86444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59185a1bf4b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1c615fb76f346b3" /><Relationship Type="http://schemas.openxmlformats.org/officeDocument/2006/relationships/slideLayout" Target="/ppt/slideLayouts/slideLayout2.xml" Id="Rfff1916fce1342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f1916fce1342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934c3400db4a95" /><Relationship Type="http://schemas.openxmlformats.org/officeDocument/2006/relationships/image" Target="/ppt/media/image.png" Id="R0444900d97a54579" /><Relationship Type="http://schemas.openxmlformats.org/officeDocument/2006/relationships/image" Target="/ppt/media/image2.png" Id="R78d704c231904ab9" /><Relationship Type="http://schemas.openxmlformats.org/officeDocument/2006/relationships/image" Target="/ppt/media/image.svg" Id="R7da2ff79d6734774" /><Relationship Type="http://schemas.openxmlformats.org/officeDocument/2006/relationships/image" Target="/ppt/media/image3.png" Id="Rf0266f037dc142c7" /><Relationship Type="http://schemas.openxmlformats.org/officeDocument/2006/relationships/image" Target="/ppt/media/image2.svg" Id="R40362fd3a3364c76" /><Relationship Type="http://schemas.openxmlformats.org/officeDocument/2006/relationships/notesSlide" Target="/ppt/notesSlides/notesSlide1.xml" Id="R2a9b2c6a24da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webpage-bitcoin-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4900d97a54579"/>
          <a:stretch xmlns:a="http://schemas.openxmlformats.org/drawingml/2006/main"/>
        </p:blipFill>
        <p:spPr>
          <a:xfrm xmlns:a="http://schemas.openxmlformats.org/drawingml/2006/main">
            <a:off x="552450" y="288925"/>
            <a:ext cx="1571625" cy="460375"/>
          </a:xfrm>
          <a:prstGeom xmlns:a="http://schemas.openxmlformats.org/drawingml/2006/main" prst="rect">
            <a:avLst/>
          </a:prstGeom>
        </p:spPr>
      </p:pic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09B5A11-761A-4CB1-8AE2-E963E175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2425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D86"/>
          </a:solidFill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A1F99D-AF4C-4950-AE6D-2CBE2D66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EXPEDITIONS / ANTARCTICA</a:t>
            </a:r>
          </a:p>
        </p:txBody>
      </p:sp>
      <p:sp>
        <p:nvSpPr>
          <p:cNvPr id="4" name="draft-status">
            <a:extLst xmlns:a="http://schemas.openxmlformats.org/drawingml/2006/main">
              <a:ext uri="{FF2B5EF4-FFF2-40B4-BE49-F238E27FC236}">
                <a16:creationId xmlns:a16="http://schemas.microsoft.com/office/drawing/2014/main" id="{BBB802C8-7C38-4077-A2F1-1DDA3E4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476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PROPOSED SPONSORSHIP RATES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724E0F1-B39A-42A1-B356-5704FBE4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3906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41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Take your place on the expedition.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415CC43-B3CB-45D2-B970-FDB6165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3906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8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86A"/>
                </a:solidFill>
                <a:latin typeface="Arial"/>
                <a:ea typeface="Arial"/>
                <a:cs typeface="Arial"/>
              </a:rPr>
              <a:t>One placement on every parka. Approximately 30 expedition parkas. All prices in USD.</a:t>
            </a:r>
          </a:p>
        </p:txBody>
      </p:sp>
      <p:sp>
        <p:nvSpPr>
          <p:cNvPr id="7" name="illustration-panel">
            <a:extLst xmlns:a="http://schemas.openxmlformats.org/drawingml/2006/main">
              <a:ext uri="{FF2B5EF4-FFF2-40B4-BE49-F238E27FC236}">
                <a16:creationId xmlns:a16="http://schemas.microsoft.com/office/drawing/2014/main" id="{31026D09-3C6E-4FAF-B608-090A0BF0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66950"/>
            <a:ext cx="7000875" cy="630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38"/>
          </a:solidFill>
        </p:spPr>
      </p:sp>
      <p:sp>
        <p:nvSpPr>
          <p:cNvPr id="8" name="diagram-title">
            <a:extLst xmlns:a="http://schemas.openxmlformats.org/drawingml/2006/main">
              <a:ext uri="{FF2B5EF4-FFF2-40B4-BE49-F238E27FC236}">
                <a16:creationId xmlns:a16="http://schemas.microsoft.com/office/drawing/2014/main" id="{4F522D93-822C-40DF-8579-768DC828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5905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3EFDF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3EFDF"/>
                </a:solidFill>
                <a:latin typeface="Georgia"/>
                <a:ea typeface="Georgia"/>
                <a:cs typeface="Georgia"/>
              </a:rPr>
              <a:t>Wear the expedition.</a:t>
            </a:r>
          </a:p>
        </p:txBody>
      </p:sp>
      <p:sp>
        <p:nvSpPr>
          <p:cNvPr id="9" name="diagram-context">
            <a:extLst xmlns:a="http://schemas.openxmlformats.org/drawingml/2006/main">
              <a:ext uri="{FF2B5EF4-FFF2-40B4-BE49-F238E27FC236}">
                <a16:creationId xmlns:a16="http://schemas.microsoft.com/office/drawing/2014/main" id="{96E6F638-BF30-4BFA-8084-BFF83CE4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5857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B477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5B477"/>
                </a:solidFill>
                <a:latin typeface="Courier New"/>
                <a:ea typeface="Courier New"/>
                <a:cs typeface="Courier New"/>
              </a:rPr>
              <a:t>10 SPONSOR PLACEMENTS / FRONT + BACK</a:t>
            </a:r>
          </a:p>
        </p:txBody>
      </p:sp>
      <p:pic>
        <p:nvPicPr>
          <p:cNvPr id="10" name="Front placement concept dia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704c231904ab9">
            <a:extLst>
              <a:ext uri="{96DAC541-7B7A-43D3-8B79-37D633B846F1}">
                <asvg:svgBlip xmlns:asvg="http://schemas.microsoft.com/office/drawing/2016/SVG/main" r:embed="R7da2ff79d67347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3686175"/>
            <a:ext cx="3457575" cy="3790950"/>
          </a:xfrm>
          <a:prstGeom xmlns:a="http://schemas.openxmlformats.org/drawingml/2006/main" prst="rect">
            <a:avLst/>
          </a:prstGeom>
        </p:spPr>
      </p:pic>
      <p:pic>
        <p:nvPicPr>
          <p:cNvPr id="11" name="Back placement concept dia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66f037dc142c7">
            <a:extLst>
              <a:ext uri="{96DAC541-7B7A-43D3-8B79-37D633B846F1}">
                <asvg:svgBlip xmlns:asvg="http://schemas.microsoft.com/office/drawing/2016/SVG/main" r:embed="R40362fd3a3364c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95675" y="3686175"/>
            <a:ext cx="3314700" cy="3790950"/>
          </a:xfrm>
          <a:prstGeom xmlns:a="http://schemas.openxmlformats.org/drawingml/2006/main" prst="rect">
            <a:avLst/>
          </a:prstGeom>
        </p:spPr>
      </p:pic>
      <p:sp>
        <p:nvSpPr>
          <p:cNvPr id="12" name="front-label">
            <a:extLst xmlns:a="http://schemas.openxmlformats.org/drawingml/2006/main">
              <a:ext uri="{FF2B5EF4-FFF2-40B4-BE49-F238E27FC236}">
                <a16:creationId xmlns:a16="http://schemas.microsoft.com/office/drawing/2014/main" id="{10EFB106-83E6-45E3-B6BD-59EB148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628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3EF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3EFDF"/>
                </a:solidFill>
                <a:latin typeface="Courier New"/>
                <a:ea typeface="Courier New"/>
                <a:cs typeface="Courier New"/>
              </a:rPr>
              <a:t>FRONT</a:t>
            </a:r>
          </a:p>
        </p:txBody>
      </p:sp>
      <p:sp>
        <p:nvSpPr>
          <p:cNvPr id="13" name="back-label">
            <a:extLst xmlns:a="http://schemas.openxmlformats.org/drawingml/2006/main">
              <a:ext uri="{FF2B5EF4-FFF2-40B4-BE49-F238E27FC236}">
                <a16:creationId xmlns:a16="http://schemas.microsoft.com/office/drawing/2014/main" id="{A987FCD9-337C-48E7-B7EB-6B9004C0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75628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3EF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F3EFDF"/>
                </a:solidFill>
                <a:latin typeface="Courier New"/>
                <a:ea typeface="Courier New"/>
                <a:cs typeface="Courier New"/>
              </a:rPr>
              <a:t>BACK</a:t>
            </a:r>
          </a:p>
        </p:txBody>
      </p:sp>
      <p:sp>
        <p:nvSpPr>
          <p:cNvPr id="14" name="diagram-note">
            <a:extLst xmlns:a="http://schemas.openxmlformats.org/drawingml/2006/main">
              <a:ext uri="{FF2B5EF4-FFF2-40B4-BE49-F238E27FC236}">
                <a16:creationId xmlns:a16="http://schemas.microsoft.com/office/drawing/2014/main" id="{CB23D264-1DE5-4F3F-8239-4BDA2724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991475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6D4C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6D4CE"/>
                </a:solidFill>
                <a:latin typeface="Arial"/>
                <a:ea typeface="Arial"/>
                <a:cs typeface="Arial"/>
              </a:rPr>
              <a:t>Placement concept only. Final garment and dimensions pending.</a:t>
            </a:r>
          </a:p>
        </p:txBody>
      </p:sp>
      <p:sp>
        <p:nvSpPr>
          <p:cNvPr id="15" name="table-placement">
            <a:extLst xmlns:a="http://schemas.openxmlformats.org/drawingml/2006/main">
              <a:ext uri="{FF2B5EF4-FFF2-40B4-BE49-F238E27FC236}">
                <a16:creationId xmlns:a16="http://schemas.microsoft.com/office/drawing/2014/main" id="{FE0AC8DB-4B48-4650-9758-3651165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57450"/>
            <a:ext cx="3000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PLACEMENT</a:t>
            </a:r>
          </a:p>
        </p:txBody>
      </p:sp>
      <p:sp>
        <p:nvSpPr>
          <p:cNvPr id="16" name="table-slots">
            <a:extLst xmlns:a="http://schemas.openxmlformats.org/drawingml/2006/main">
              <a:ext uri="{FF2B5EF4-FFF2-40B4-BE49-F238E27FC236}">
                <a16:creationId xmlns:a16="http://schemas.microsoft.com/office/drawing/2014/main" id="{33178AA4-E478-4A71-8049-93A8397A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57450"/>
            <a:ext cx="685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SLOTS</a:t>
            </a:r>
          </a:p>
        </p:txBody>
      </p:sp>
      <p:sp>
        <p:nvSpPr>
          <p:cNvPr id="17" name="table-price">
            <a:extLst xmlns:a="http://schemas.openxmlformats.org/drawingml/2006/main">
              <a:ext uri="{FF2B5EF4-FFF2-40B4-BE49-F238E27FC236}">
                <a16:creationId xmlns:a16="http://schemas.microsoft.com/office/drawing/2014/main" id="{19D1BCB1-CB3B-422A-80DE-2A9BC59C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4574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PRICE EACH</a:t>
            </a:r>
          </a:p>
        </p:txBody>
      </p:sp>
      <p:sp>
        <p:nvSpPr>
          <p:cNvPr id="18" name="table-total">
            <a:extLst xmlns:a="http://schemas.openxmlformats.org/drawingml/2006/main">
              <a:ext uri="{FF2B5EF4-FFF2-40B4-BE49-F238E27FC236}">
                <a16:creationId xmlns:a16="http://schemas.microsoft.com/office/drawing/2014/main" id="{53607DF6-324D-4A0C-A026-252E057E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57450"/>
            <a:ext cx="13239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REVENUE</a:t>
            </a:r>
          </a:p>
        </p:txBody>
      </p:sp>
      <p:sp>
        <p:nvSpPr>
          <p:cNvPr id="19" name="row-rule-0">
            <a:extLst xmlns:a="http://schemas.openxmlformats.org/drawingml/2006/main">
              <a:ext uri="{FF2B5EF4-FFF2-40B4-BE49-F238E27FC236}">
                <a16:creationId xmlns:a16="http://schemas.microsoft.com/office/drawing/2014/main" id="{6CEA316E-96A7-492D-91D5-8535B7F8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28925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D86"/>
          </a:solidFill>
        </p:spPr>
      </p:sp>
      <p:sp>
        <p:nvSpPr>
          <p:cNvPr id="20" name="placement-number-0">
            <a:extLst xmlns:a="http://schemas.openxmlformats.org/drawingml/2006/main">
              <a:ext uri="{FF2B5EF4-FFF2-40B4-BE49-F238E27FC236}">
                <a16:creationId xmlns:a16="http://schemas.microsoft.com/office/drawing/2014/main" id="{F0CDCDA2-FD2C-4FDF-B88D-57F89C74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52750"/>
            <a:ext cx="26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1" name="placement-name-0">
            <a:extLst xmlns:a="http://schemas.openxmlformats.org/drawingml/2006/main">
              <a:ext uri="{FF2B5EF4-FFF2-40B4-BE49-F238E27FC236}">
                <a16:creationId xmlns:a16="http://schemas.microsoft.com/office/drawing/2014/main" id="{0997B4DC-4C15-4E4A-BFCE-014EC860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241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Upper arm</a:t>
            </a:r>
          </a:p>
        </p:txBody>
      </p:sp>
      <p:sp>
        <p:nvSpPr>
          <p:cNvPr id="22" name="placement-slots-0">
            <a:extLst xmlns:a="http://schemas.openxmlformats.org/drawingml/2006/main">
              <a:ext uri="{FF2B5EF4-FFF2-40B4-BE49-F238E27FC236}">
                <a16:creationId xmlns:a16="http://schemas.microsoft.com/office/drawing/2014/main" id="{0AD487C4-C074-4AF8-AAA7-1F3E7F51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24175"/>
            <a:ext cx="68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placement-price-0">
            <a:extLst xmlns:a="http://schemas.openxmlformats.org/drawingml/2006/main">
              <a:ext uri="{FF2B5EF4-FFF2-40B4-BE49-F238E27FC236}">
                <a16:creationId xmlns:a16="http://schemas.microsoft.com/office/drawing/2014/main" id="{B7B4BE8E-4B2B-4428-AAC8-A457EBB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924175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$4,000</a:t>
            </a:r>
          </a:p>
        </p:txBody>
      </p:sp>
      <p:sp>
        <p:nvSpPr>
          <p:cNvPr id="24" name="placement-revenue-0">
            <a:extLst xmlns:a="http://schemas.openxmlformats.org/drawingml/2006/main">
              <a:ext uri="{FF2B5EF4-FFF2-40B4-BE49-F238E27FC236}">
                <a16:creationId xmlns:a16="http://schemas.microsoft.com/office/drawing/2014/main" id="{9D27FC19-7613-455F-9FE2-D5D1896A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924175"/>
            <a:ext cx="141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$8,000</a:t>
            </a:r>
          </a:p>
        </p:txBody>
      </p:sp>
      <p:sp>
        <p:nvSpPr>
          <p:cNvPr id="25" name="row-rule-1">
            <a:extLst xmlns:a="http://schemas.openxmlformats.org/drawingml/2006/main">
              <a:ext uri="{FF2B5EF4-FFF2-40B4-BE49-F238E27FC236}">
                <a16:creationId xmlns:a16="http://schemas.microsoft.com/office/drawing/2014/main" id="{E30CC1FC-473A-4698-A87D-4A041FE0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D86"/>
          </a:solidFill>
        </p:spPr>
      </p:sp>
      <p:sp>
        <p:nvSpPr>
          <p:cNvPr id="26" name="placement-number-1">
            <a:extLst xmlns:a="http://schemas.openxmlformats.org/drawingml/2006/main">
              <a:ext uri="{FF2B5EF4-FFF2-40B4-BE49-F238E27FC236}">
                <a16:creationId xmlns:a16="http://schemas.microsoft.com/office/drawing/2014/main" id="{8DB0BDAC-9E34-44E0-AE3E-4EFAEDE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505200"/>
            <a:ext cx="26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27" name="placement-name-1">
            <a:extLst xmlns:a="http://schemas.openxmlformats.org/drawingml/2006/main">
              <a:ext uri="{FF2B5EF4-FFF2-40B4-BE49-F238E27FC236}">
                <a16:creationId xmlns:a16="http://schemas.microsoft.com/office/drawing/2014/main" id="{CEB00866-5939-4A2A-A557-31098260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7662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Middle arm</a:t>
            </a:r>
          </a:p>
        </p:txBody>
      </p:sp>
      <p:sp>
        <p:nvSpPr>
          <p:cNvPr id="28" name="placement-slots-1">
            <a:extLst xmlns:a="http://schemas.openxmlformats.org/drawingml/2006/main">
              <a:ext uri="{FF2B5EF4-FFF2-40B4-BE49-F238E27FC236}">
                <a16:creationId xmlns:a16="http://schemas.microsoft.com/office/drawing/2014/main" id="{8E89E10D-4E98-44BE-9CD2-69E8B2B7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68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placement-price-1">
            <a:extLst xmlns:a="http://schemas.openxmlformats.org/drawingml/2006/main">
              <a:ext uri="{FF2B5EF4-FFF2-40B4-BE49-F238E27FC236}">
                <a16:creationId xmlns:a16="http://schemas.microsoft.com/office/drawing/2014/main" id="{B942C841-4660-4259-AB12-AF83917D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76625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$3,500</a:t>
            </a:r>
          </a:p>
        </p:txBody>
      </p:sp>
      <p:sp>
        <p:nvSpPr>
          <p:cNvPr id="30" name="placement-revenue-1">
            <a:extLst xmlns:a="http://schemas.openxmlformats.org/drawingml/2006/main">
              <a:ext uri="{FF2B5EF4-FFF2-40B4-BE49-F238E27FC236}">
                <a16:creationId xmlns:a16="http://schemas.microsoft.com/office/drawing/2014/main" id="{2C3A4E7B-89B4-41DF-A261-C7157B9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476625"/>
            <a:ext cx="141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$7,000</a:t>
            </a:r>
          </a:p>
        </p:txBody>
      </p:sp>
      <p:sp>
        <p:nvSpPr>
          <p:cNvPr id="31" name="row-rule-2">
            <a:extLst xmlns:a="http://schemas.openxmlformats.org/drawingml/2006/main">
              <a:ext uri="{FF2B5EF4-FFF2-40B4-BE49-F238E27FC236}">
                <a16:creationId xmlns:a16="http://schemas.microsoft.com/office/drawing/2014/main" id="{DBC87FF7-969C-4996-B222-265857C4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33825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D86"/>
          </a:solidFill>
        </p:spPr>
      </p:sp>
      <p:sp>
        <p:nvSpPr>
          <p:cNvPr id="32" name="placement-number-2">
            <a:extLst xmlns:a="http://schemas.openxmlformats.org/drawingml/2006/main">
              <a:ext uri="{FF2B5EF4-FFF2-40B4-BE49-F238E27FC236}">
                <a16:creationId xmlns:a16="http://schemas.microsoft.com/office/drawing/2014/main" id="{11E37F26-C640-40A5-A56F-EDBACEAA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057650"/>
            <a:ext cx="26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33" name="placement-name-2">
            <a:extLst xmlns:a="http://schemas.openxmlformats.org/drawingml/2006/main">
              <a:ext uri="{FF2B5EF4-FFF2-40B4-BE49-F238E27FC236}">
                <a16:creationId xmlns:a16="http://schemas.microsoft.com/office/drawing/2014/main" id="{FA72C90D-648C-4452-8FC7-D6460260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290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Lower arm</a:t>
            </a:r>
          </a:p>
        </p:txBody>
      </p:sp>
      <p:sp>
        <p:nvSpPr>
          <p:cNvPr id="34" name="placement-slots-2">
            <a:extLst xmlns:a="http://schemas.openxmlformats.org/drawingml/2006/main">
              <a:ext uri="{FF2B5EF4-FFF2-40B4-BE49-F238E27FC236}">
                <a16:creationId xmlns:a16="http://schemas.microsoft.com/office/drawing/2014/main" id="{3FF2B899-50ED-4566-B3DB-D1F3797F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29075"/>
            <a:ext cx="68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placement-price-2">
            <a:extLst xmlns:a="http://schemas.openxmlformats.org/drawingml/2006/main">
              <a:ext uri="{FF2B5EF4-FFF2-40B4-BE49-F238E27FC236}">
                <a16:creationId xmlns:a16="http://schemas.microsoft.com/office/drawing/2014/main" id="{7159A623-F2C1-4E10-A16B-4D2718F2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$3,000</a:t>
            </a:r>
          </a:p>
        </p:txBody>
      </p:sp>
      <p:sp>
        <p:nvSpPr>
          <p:cNvPr id="36" name="placement-revenue-2">
            <a:extLst xmlns:a="http://schemas.openxmlformats.org/drawingml/2006/main">
              <a:ext uri="{FF2B5EF4-FFF2-40B4-BE49-F238E27FC236}">
                <a16:creationId xmlns:a16="http://schemas.microsoft.com/office/drawing/2014/main" id="{6A6770F9-70CC-4F3B-903C-DD79DEDA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29075"/>
            <a:ext cx="141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$6,000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FE927755-550B-41E8-BE68-B34C65B9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86275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D86"/>
          </a:solidFill>
        </p:spPr>
      </p:sp>
      <p:sp>
        <p:nvSpPr>
          <p:cNvPr id="38" name="placement-number-3">
            <a:extLst xmlns:a="http://schemas.openxmlformats.org/drawingml/2006/main">
              <a:ext uri="{FF2B5EF4-FFF2-40B4-BE49-F238E27FC236}">
                <a16:creationId xmlns:a16="http://schemas.microsoft.com/office/drawing/2014/main" id="{3238E5EB-FA09-4B8C-BCE3-4497DA39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10100"/>
            <a:ext cx="26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39" name="placement-name-3">
            <a:extLst xmlns:a="http://schemas.openxmlformats.org/drawingml/2006/main">
              <a:ext uri="{FF2B5EF4-FFF2-40B4-BE49-F238E27FC236}">
                <a16:creationId xmlns:a16="http://schemas.microsoft.com/office/drawing/2014/main" id="{37624AFC-AB39-4E42-BCA1-7448D02F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58152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Left chest</a:t>
            </a:r>
          </a:p>
        </p:txBody>
      </p:sp>
      <p:sp>
        <p:nvSpPr>
          <p:cNvPr id="40" name="placement-slots-3">
            <a:extLst xmlns:a="http://schemas.openxmlformats.org/drawingml/2006/main">
              <a:ext uri="{FF2B5EF4-FFF2-40B4-BE49-F238E27FC236}">
                <a16:creationId xmlns:a16="http://schemas.microsoft.com/office/drawing/2014/main" id="{C3DF1D47-4B49-4F38-BD74-4F1D56E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81525"/>
            <a:ext cx="68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" name="placement-price-3">
            <a:extLst xmlns:a="http://schemas.openxmlformats.org/drawingml/2006/main">
              <a:ext uri="{FF2B5EF4-FFF2-40B4-BE49-F238E27FC236}">
                <a16:creationId xmlns:a16="http://schemas.microsoft.com/office/drawing/2014/main" id="{ABC306AF-26EE-4EA2-BB3D-C5C1B09C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581525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$7,000</a:t>
            </a:r>
          </a:p>
        </p:txBody>
      </p:sp>
      <p:sp>
        <p:nvSpPr>
          <p:cNvPr id="42" name="placement-revenue-3">
            <a:extLst xmlns:a="http://schemas.openxmlformats.org/drawingml/2006/main">
              <a:ext uri="{FF2B5EF4-FFF2-40B4-BE49-F238E27FC236}">
                <a16:creationId xmlns:a16="http://schemas.microsoft.com/office/drawing/2014/main" id="{1B6D6879-DE49-4E4F-9249-1EEA8EAE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581525"/>
            <a:ext cx="141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$7,000</a:t>
            </a:r>
          </a:p>
        </p:txBody>
      </p:sp>
      <p:sp>
        <p:nvSpPr>
          <p:cNvPr id="43" name="row-rule-4">
            <a:extLst xmlns:a="http://schemas.openxmlformats.org/drawingml/2006/main">
              <a:ext uri="{FF2B5EF4-FFF2-40B4-BE49-F238E27FC236}">
                <a16:creationId xmlns:a16="http://schemas.microsoft.com/office/drawing/2014/main" id="{03F8C9ED-9BFA-4266-AE7A-F5691A70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38725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AD86"/>
          </a:solidFill>
        </p:spPr>
      </p:sp>
      <p:sp>
        <p:nvSpPr>
          <p:cNvPr id="44" name="placement-number-4">
            <a:extLst xmlns:a="http://schemas.openxmlformats.org/drawingml/2006/main">
              <a:ext uri="{FF2B5EF4-FFF2-40B4-BE49-F238E27FC236}">
                <a16:creationId xmlns:a16="http://schemas.microsoft.com/office/drawing/2014/main" id="{73C457EC-9489-4AC6-BD00-891DBAB1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162550"/>
            <a:ext cx="26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45" name="placement-name-4">
            <a:extLst xmlns:a="http://schemas.openxmlformats.org/drawingml/2006/main">
              <a:ext uri="{FF2B5EF4-FFF2-40B4-BE49-F238E27FC236}">
                <a16:creationId xmlns:a16="http://schemas.microsoft.com/office/drawing/2014/main" id="{16449C19-3B89-4CA3-8CCB-71E4C462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339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Right front</a:t>
            </a:r>
          </a:p>
        </p:txBody>
      </p:sp>
      <p:sp>
        <p:nvSpPr>
          <p:cNvPr id="46" name="placement-slots-4">
            <a:extLst xmlns:a="http://schemas.openxmlformats.org/drawingml/2006/main">
              <a:ext uri="{FF2B5EF4-FFF2-40B4-BE49-F238E27FC236}">
                <a16:creationId xmlns:a16="http://schemas.microsoft.com/office/drawing/2014/main" id="{E71A654E-B4F2-40B2-9B65-8293B21C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33975"/>
            <a:ext cx="68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" name="placement-price-4">
            <a:extLst xmlns:a="http://schemas.openxmlformats.org/drawingml/2006/main">
              <a:ext uri="{FF2B5EF4-FFF2-40B4-BE49-F238E27FC236}">
                <a16:creationId xmlns:a16="http://schemas.microsoft.com/office/drawing/2014/main" id="{8B202565-0E59-4C4B-9153-7B18EE3A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33975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$5,000</a:t>
            </a:r>
          </a:p>
        </p:txBody>
      </p:sp>
      <p:sp>
        <p:nvSpPr>
          <p:cNvPr id="48" name="placement-revenue-4">
            <a:extLst xmlns:a="http://schemas.openxmlformats.org/drawingml/2006/main">
              <a:ext uri="{FF2B5EF4-FFF2-40B4-BE49-F238E27FC236}">
                <a16:creationId xmlns:a16="http://schemas.microsoft.com/office/drawing/2014/main" id="{EBDAA938-741B-4188-A05A-E97F68A7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133975"/>
            <a:ext cx="141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$10,000</a:t>
            </a:r>
          </a:p>
        </p:txBody>
      </p:sp>
      <p:sp>
        <p:nvSpPr>
          <p:cNvPr id="49" name="premium-back-highlight">
            <a:extLst xmlns:a="http://schemas.openxmlformats.org/drawingml/2006/main">
              <a:ext uri="{FF2B5EF4-FFF2-40B4-BE49-F238E27FC236}">
                <a16:creationId xmlns:a16="http://schemas.microsoft.com/office/drawing/2014/main" id="{4FE3ECFB-20B0-4E43-AF6F-CCC90F64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600700"/>
            <a:ext cx="731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38"/>
          </a:solidFill>
        </p:spPr>
      </p:sp>
      <p:sp>
        <p:nvSpPr>
          <p:cNvPr id="50" name="placement-number-5">
            <a:extLst xmlns:a="http://schemas.openxmlformats.org/drawingml/2006/main">
              <a:ext uri="{FF2B5EF4-FFF2-40B4-BE49-F238E27FC236}">
                <a16:creationId xmlns:a16="http://schemas.microsoft.com/office/drawing/2014/main" id="{52163099-08AF-4F74-BF30-29DF3970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715000"/>
            <a:ext cx="26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B477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D5B477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51" name="placement-name-5">
            <a:extLst xmlns:a="http://schemas.openxmlformats.org/drawingml/2006/main">
              <a:ext uri="{FF2B5EF4-FFF2-40B4-BE49-F238E27FC236}">
                <a16:creationId xmlns:a16="http://schemas.microsoft.com/office/drawing/2014/main" id="{62D75C8E-0DAF-4352-99CE-C2D93657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68642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EF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EFDF"/>
                </a:solidFill>
                <a:latin typeface="Arial"/>
                <a:ea typeface="Arial"/>
                <a:cs typeface="Arial"/>
              </a:rPr>
              <a:t>Large back</a:t>
            </a:r>
          </a:p>
        </p:txBody>
      </p:sp>
      <p:sp>
        <p:nvSpPr>
          <p:cNvPr id="52" name="placement-slots-5">
            <a:extLst xmlns:a="http://schemas.openxmlformats.org/drawingml/2006/main">
              <a:ext uri="{FF2B5EF4-FFF2-40B4-BE49-F238E27FC236}">
                <a16:creationId xmlns:a16="http://schemas.microsoft.com/office/drawing/2014/main" id="{AD12FD7F-7C5E-4BB7-8E3E-FECAD564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86425"/>
            <a:ext cx="685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3EF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EF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placement-price-5">
            <a:extLst xmlns:a="http://schemas.openxmlformats.org/drawingml/2006/main">
              <a:ext uri="{FF2B5EF4-FFF2-40B4-BE49-F238E27FC236}">
                <a16:creationId xmlns:a16="http://schemas.microsoft.com/office/drawing/2014/main" id="{98E0FC70-8B1E-46E1-B564-72CB28AE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686425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F3EFD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F3EFDF"/>
                </a:solidFill>
                <a:latin typeface="Georgia"/>
                <a:ea typeface="Georgia"/>
                <a:cs typeface="Georgia"/>
              </a:rPr>
              <a:t>$21,000</a:t>
            </a:r>
          </a:p>
        </p:txBody>
      </p:sp>
      <p:sp>
        <p:nvSpPr>
          <p:cNvPr id="54" name="placement-revenue-5">
            <a:extLst xmlns:a="http://schemas.openxmlformats.org/drawingml/2006/main">
              <a:ext uri="{FF2B5EF4-FFF2-40B4-BE49-F238E27FC236}">
                <a16:creationId xmlns:a16="http://schemas.microsoft.com/office/drawing/2014/main" id="{51F02D85-66C3-4641-BA3A-5C01DBB0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686425"/>
            <a:ext cx="14192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F3EFD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F3EFDF"/>
                </a:solidFill>
                <a:latin typeface="Georgia"/>
                <a:ea typeface="Georgia"/>
                <a:cs typeface="Georgia"/>
              </a:rPr>
              <a:t>$21,000</a:t>
            </a:r>
          </a:p>
        </p:txBody>
      </p:sp>
      <p:sp>
        <p:nvSpPr>
          <p:cNvPr id="55" name="total-rule">
            <a:extLst xmlns:a="http://schemas.openxmlformats.org/drawingml/2006/main">
              <a:ext uri="{FF2B5EF4-FFF2-40B4-BE49-F238E27FC236}">
                <a16:creationId xmlns:a16="http://schemas.microsoft.com/office/drawing/2014/main" id="{5E281884-9135-46A1-AB4E-584D5D6A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515100"/>
            <a:ext cx="718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3"/>
          </a:solidFill>
        </p:spPr>
      </p:sp>
      <p:sp>
        <p:nvSpPr>
          <p:cNvPr id="56" name="total-label">
            <a:extLst xmlns:a="http://schemas.openxmlformats.org/drawingml/2006/main">
              <a:ext uri="{FF2B5EF4-FFF2-40B4-BE49-F238E27FC236}">
                <a16:creationId xmlns:a16="http://schemas.microsoft.com/office/drawing/2014/main" id="{9BEBBDBE-C446-4468-A763-C6F23D14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724650"/>
            <a:ext cx="3810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86A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6686A"/>
                </a:solidFill>
                <a:latin typeface="Courier New"/>
                <a:ea typeface="Courier New"/>
                <a:cs typeface="Courier New"/>
              </a:rPr>
              <a:t>TOTAL SPONSORSHIP INVENTORY</a:t>
            </a:r>
          </a:p>
        </p:txBody>
      </p:sp>
      <p:sp>
        <p:nvSpPr>
          <p:cNvPr id="57" name="total-slots">
            <a:extLst xmlns:a="http://schemas.openxmlformats.org/drawingml/2006/main">
              <a:ext uri="{FF2B5EF4-FFF2-40B4-BE49-F238E27FC236}">
                <a16:creationId xmlns:a16="http://schemas.microsoft.com/office/drawing/2014/main" id="{71C0DA3A-8A18-4B31-A8C6-BDF20E5D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07707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E38"/>
                </a:solidFill>
                <a:latin typeface="Arial"/>
                <a:ea typeface="Arial"/>
                <a:cs typeface="Arial"/>
              </a:rPr>
              <a:t>10 placements across ~30 parkas</a:t>
            </a:r>
          </a:p>
        </p:txBody>
      </p:sp>
      <p:sp>
        <p:nvSpPr>
          <p:cNvPr id="58" name="total-revenue">
            <a:extLst xmlns:a="http://schemas.openxmlformats.org/drawingml/2006/main">
              <a:ext uri="{FF2B5EF4-FFF2-40B4-BE49-F238E27FC236}">
                <a16:creationId xmlns:a16="http://schemas.microsoft.com/office/drawing/2014/main" id="{F55E6FB7-AC9A-4836-A7D7-3BE23A97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6677025"/>
            <a:ext cx="30670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4725" b="0">
                <a:solidFill>
                  <a:srgbClr val="102E38"/>
                </a:solidFill>
                <a:latin typeface="Georgia"/>
                <a:ea typeface="Georgia"/>
                <a:cs typeface="Georgia"/>
              </a:defRPr>
            </a:pPr>
            <a:r>
              <a:rPr sz="4725" b="0">
                <a:solidFill>
                  <a:srgbClr val="102E38"/>
                </a:solidFill>
                <a:latin typeface="Georgia"/>
                <a:ea typeface="Georgia"/>
                <a:cs typeface="Georgia"/>
              </a:rPr>
              <a:t>$59,000</a:t>
            </a:r>
          </a:p>
        </p:txBody>
      </p:sp>
      <p:sp>
        <p:nvSpPr>
          <p:cNvPr id="59" name="terms">
            <a:extLst xmlns:a="http://schemas.openxmlformats.org/drawingml/2006/main">
              <a:ext uri="{FF2B5EF4-FFF2-40B4-BE49-F238E27FC236}">
                <a16:creationId xmlns:a16="http://schemas.microsoft.com/office/drawing/2014/main" id="{76968606-EB12-40C1-99BC-C774E53E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762875"/>
            <a:ext cx="71818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86A"/>
                </a:solidFill>
                <a:latin typeface="Arial"/>
                <a:ea typeface="Arial"/>
                <a:cs typeface="Arial"/>
              </a:rPr>
              <a:t>Each price covers all parkas. Expedition tickets are separate.</a:t>
            </a:r>
          </a:p>
        </p:txBody>
      </p:sp>
      <p:sp>
        <p:nvSpPr>
          <p:cNvPr id="60" name="terms-second">
            <a:extLst xmlns:a="http://schemas.openxmlformats.org/drawingml/2006/main">
              <a:ext uri="{FF2B5EF4-FFF2-40B4-BE49-F238E27FC236}">
                <a16:creationId xmlns:a16="http://schemas.microsoft.com/office/drawing/2014/main" id="{E6F16F5F-0AC2-4955-8473-86957017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029575"/>
            <a:ext cx="71818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86A"/>
                </a:solidFill>
                <a:latin typeface="Arial"/>
                <a:ea typeface="Arial"/>
                <a:cs typeface="Arial"/>
              </a:rPr>
              <a:t>Photo and promotional benefits to be agreed with each sponsor.</a:t>
            </a:r>
          </a:p>
        </p:txBody>
      </p:sp>
    </p:spTree>
    <p:extLst>
      <p:ext uri="{BB962C8B-B14F-4D97-AF65-F5344CB8AC3E}">
        <p14:creationId xmlns:p14="http://schemas.microsoft.com/office/powerpoint/2010/main" val="354187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2026-09-30T15:24:29.6340000Z</dcterms:created>
  <dcterms:modified xsi:type="dcterms:W3CDTF">2026-09-30T15:24:29.6340000Z</dcterms:modified>
</coreProperties>
</file>